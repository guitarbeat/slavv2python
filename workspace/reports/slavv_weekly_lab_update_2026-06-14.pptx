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9080" cy="6858000"/>
          </a:xfrm>
          <a:prstGeom prst="rect">
            <a:avLst/>
          </a:prstGeom>
          <a:solidFill>
            <a:srgbClr val="12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Aptos"/>
              </a:defRPr>
            </a:pPr>
            <a:r>
              <a:t>WEEKLY LAB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2971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SLAVV Python exact-route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3218688"/>
            <a:ext cx="2834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600" b="0">
                <a:solidFill>
                  <a:srgbClr val="E1ECF9"/>
                </a:solidFill>
                <a:latin typeface="Aptos"/>
              </a:defRPr>
            </a:pPr>
            <a:r>
              <a:t>May 26-Jun 14,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868680"/>
            <a:ext cx="6720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00" b="1">
                <a:solidFill>
                  <a:srgbClr val="1A7E7C"/>
                </a:solidFill>
                <a:latin typeface="Aptos"/>
              </a:defRPr>
            </a:pPr>
            <a:r>
              <a:t>One sentence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325880"/>
            <a:ext cx="6675120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900" b="1">
                <a:solidFill>
                  <a:srgbClr val="122B4C"/>
                </a:solidFill>
                <a:latin typeface="Aptos Display"/>
              </a:defRPr>
            </a:pPr>
            <a:r>
              <a:t>We turned MATLAB parity from an open debugging effort into a staged proof, and removed key blockers to running that proof at canonical scale.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45152" y="3154680"/>
            <a:ext cx="1874519" cy="1024128"/>
          </a:xfrm>
          <a:prstGeom prst="roundRect">
            <a:avLst/>
          </a:prstGeom>
          <a:solidFill>
            <a:srgbClr val="36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36592" y="3319272"/>
            <a:ext cx="16916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0/0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2312" y="3813048"/>
            <a:ext cx="16001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Aptos"/>
              </a:defRPr>
            </a:pPr>
            <a:r>
              <a:t>target per proof stage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3154680"/>
            <a:ext cx="1874519" cy="1024128"/>
          </a:xfrm>
          <a:prstGeom prst="roundRect">
            <a:avLst/>
          </a:prstGeom>
          <a:solidFill>
            <a:srgbClr val="1A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3319272"/>
            <a:ext cx="16916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813048"/>
            <a:ext cx="16001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Aptos"/>
              </a:defRPr>
            </a:pPr>
            <a:r>
              <a:t>crop energy gate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9408" y="3154680"/>
            <a:ext cx="1874519" cy="1024128"/>
          </a:xfrm>
          <a:prstGeom prst="roundRect">
            <a:avLst/>
          </a:prstGeom>
          <a:solidFill>
            <a:srgbClr val="BC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3319272"/>
            <a:ext cx="16916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Pending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8" y="3813048"/>
            <a:ext cx="16001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Aptos"/>
              </a:defRPr>
            </a:pPr>
            <a:r>
              <a:t>canonical sequence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4892040"/>
            <a:ext cx="6263640" cy="822960"/>
          </a:xfrm>
          <a:prstGeom prst="roundRect">
            <a:avLst/>
          </a:prstGeom>
          <a:solidFill>
            <a:srgbClr val="FAE8E8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4892040"/>
            <a:ext cx="50292" cy="822960"/>
          </a:xfrm>
          <a:prstGeom prst="rect">
            <a:avLst/>
          </a:prstGeom>
          <a:solidFill>
            <a:srgbClr val="A6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28032" y="5056631"/>
            <a:ext cx="5879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50" b="1">
                <a:solidFill>
                  <a:srgbClr val="A64141"/>
                </a:solidFill>
                <a:latin typeface="Aptos"/>
              </a:defRPr>
            </a:pPr>
            <a:r>
              <a:t>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8032" y="5422392"/>
            <a:ext cx="5879592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600" b="0">
                <a:solidFill>
                  <a:srgbClr val="19212C"/>
                </a:solidFill>
                <a:latin typeface="Aptos"/>
              </a:defRPr>
            </a:pPr>
            <a:r>
              <a:t>This is progress toward Phase 1 certification, not a final certification claim.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28232"/>
            <a:ext cx="10927080" cy="10972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74980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00" b="0">
                <a:solidFill>
                  <a:srgbClr val="5C6A7A"/>
                </a:solidFill>
                <a:latin typeface="Aptos"/>
              </a:defRPr>
            </a:pPr>
            <a:r>
              <a:t>SLAVV Python update | May 26-Jun 14,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>
                <a:solidFill>
                  <a:srgbClr val="1A7E7C"/>
                </a:solidFill>
                <a:latin typeface="Aptos"/>
              </a:defRPr>
            </a:pPr>
            <a:r>
              <a:t>CLAIM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30352"/>
            <a:ext cx="10835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900" b="1">
                <a:solidFill>
                  <a:srgbClr val="122B4C"/>
                </a:solidFill>
                <a:latin typeface="Aptos Display"/>
              </a:defRPr>
            </a:pPr>
            <a:r>
              <a:t>The bar is strict stage equality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34440"/>
            <a:ext cx="3063240" cy="1417320"/>
          </a:xfrm>
          <a:prstGeom prst="roundRect">
            <a:avLst/>
          </a:prstGeom>
          <a:solidFill>
            <a:srgbClr val="F9F2E0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50292" cy="1417320"/>
          </a:xfrm>
          <a:prstGeom prst="rect">
            <a:avLst/>
          </a:prstGeom>
          <a:solidFill>
            <a:srgbClr val="BC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1399032"/>
            <a:ext cx="2679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50" b="1">
                <a:solidFill>
                  <a:srgbClr val="BC8727"/>
                </a:solidFill>
                <a:latin typeface="Aptos"/>
              </a:defRPr>
            </a:pPr>
            <a:r>
              <a:t>Old framing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1764792"/>
            <a:ext cx="2679192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600" b="0">
                <a:solidFill>
                  <a:srgbClr val="19212C"/>
                </a:solidFill>
                <a:latin typeface="Aptos"/>
              </a:defRPr>
            </a:pPr>
            <a:r>
              <a:t>Match rates were useful for debugging, but they were not a certification standard.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69080" y="1938528"/>
            <a:ext cx="548640" cy="0"/>
          </a:xfrm>
          <a:prstGeom prst="line">
            <a:avLst/>
          </a:prstGeom>
          <a:ln w="19050">
            <a:solidFill>
              <a:srgbClr val="5C6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800600" y="1234440"/>
            <a:ext cx="3063240" cy="1417320"/>
          </a:xfrm>
          <a:prstGeom prst="roundRect">
            <a:avLst/>
          </a:prstGeom>
          <a:solidFill>
            <a:srgbClr val="E4F3E9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1234440"/>
            <a:ext cx="50292" cy="1417320"/>
          </a:xfrm>
          <a:prstGeom prst="rect">
            <a:avLst/>
          </a:prstGeom>
          <a:solidFill>
            <a:srgbClr val="36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10912" y="1399032"/>
            <a:ext cx="2679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50" b="1">
                <a:solidFill>
                  <a:srgbClr val="368459"/>
                </a:solidFill>
                <a:latin typeface="Aptos"/>
              </a:defRPr>
            </a:pPr>
            <a:r>
              <a:t>Current bar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0912" y="1764792"/>
            <a:ext cx="2679192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600" b="0">
                <a:solidFill>
                  <a:srgbClr val="19212C"/>
                </a:solidFill>
                <a:latin typeface="Aptos"/>
              </a:defRPr>
            </a:pPr>
            <a:r>
              <a:t>Energy, Vertices, Edges, and Network each need zero missing and zero extra.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46720" y="1938528"/>
            <a:ext cx="548640" cy="0"/>
          </a:xfrm>
          <a:prstGeom prst="line">
            <a:avLst/>
          </a:prstGeom>
          <a:ln w="19050">
            <a:solidFill>
              <a:srgbClr val="5C6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778240" y="1234440"/>
            <a:ext cx="2514600" cy="1417320"/>
          </a:xfrm>
          <a:prstGeom prst="roundRect">
            <a:avLst/>
          </a:prstGeom>
          <a:solidFill>
            <a:srgbClr val="E1ECF9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78240" y="1234440"/>
            <a:ext cx="50292" cy="1417320"/>
          </a:xfrm>
          <a:prstGeom prst="rect">
            <a:avLst/>
          </a:prstGeom>
          <a:solidFill>
            <a:srgbClr val="2B6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8552" y="1399032"/>
            <a:ext cx="2130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50" b="1">
                <a:solidFill>
                  <a:srgbClr val="2B66B1"/>
                </a:solidFill>
                <a:latin typeface="Aptos"/>
              </a:defRPr>
            </a:pPr>
            <a:r>
              <a:t>Later claim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1764792"/>
            <a:ext cx="2130552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600" b="0">
                <a:solidFill>
                  <a:srgbClr val="19212C"/>
                </a:solidFill>
                <a:latin typeface="Aptos"/>
              </a:defRPr>
            </a:pPr>
            <a:r>
              <a:t>Paper-profile ship confidence is Phase 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520440"/>
            <a:ext cx="10012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500" b="1">
                <a:solidFill>
                  <a:srgbClr val="122B4C"/>
                </a:solidFill>
                <a:latin typeface="Aptos"/>
              </a:defRPr>
            </a:pPr>
            <a:r>
              <a:t>Phase 1 = exact-route certification on full 180709_E.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4709160"/>
            <a:ext cx="2194560" cy="384048"/>
          </a:xfrm>
          <a:prstGeom prst="roundRect">
            <a:avLst/>
          </a:prstGeom>
          <a:solidFill>
            <a:srgbClr val="FA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01952" y="4773168"/>
            <a:ext cx="204825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1">
                <a:solidFill>
                  <a:srgbClr val="A64141"/>
                </a:solidFill>
                <a:latin typeface="Aptos"/>
              </a:defRPr>
            </a:pPr>
            <a:r>
              <a:t>No percentage exit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4709160"/>
            <a:ext cx="2560320" cy="384048"/>
          </a:xfrm>
          <a:prstGeom prst="roundRect">
            <a:avLst/>
          </a:prstGeom>
          <a:solidFill>
            <a:srgbClr val="FA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0872" y="4773168"/>
            <a:ext cx="24140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1">
                <a:solidFill>
                  <a:srgbClr val="A64141"/>
                </a:solidFill>
                <a:latin typeface="Aptos"/>
              </a:defRPr>
            </a:pPr>
            <a:r>
              <a:t>No oracle vertex injection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4709160"/>
            <a:ext cx="2331720" cy="384048"/>
          </a:xfrm>
          <a:prstGeom prst="roundRect">
            <a:avLst/>
          </a:prstGeom>
          <a:solidFill>
            <a:srgbClr val="FA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773168"/>
            <a:ext cx="21854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1">
                <a:solidFill>
                  <a:srgbClr val="A64141"/>
                </a:solidFill>
                <a:latin typeface="Aptos"/>
              </a:defRPr>
            </a:pPr>
            <a:r>
              <a:t>No final claim yet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428232"/>
            <a:ext cx="10927080" cy="10972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74980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00" b="0">
                <a:solidFill>
                  <a:srgbClr val="5C6A7A"/>
                </a:solidFill>
                <a:latin typeface="Aptos"/>
              </a:defRPr>
            </a:pPr>
            <a:r>
              <a:t>SLAVV Python update | May 26-Jun 14,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>
                <a:solidFill>
                  <a:srgbClr val="1A7E7C"/>
                </a:solidFill>
                <a:latin typeface="Aptos"/>
              </a:defRPr>
            </a:pPr>
            <a:r>
              <a:t>WORK COMPLETED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30352"/>
            <a:ext cx="10835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900" b="1">
                <a:solidFill>
                  <a:srgbClr val="122B4C"/>
                </a:solidFill>
                <a:latin typeface="Aptos Display"/>
              </a:defRPr>
            </a:pPr>
            <a:r>
              <a:t>Four changes made the proof workflow real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2606040" cy="1828800"/>
          </a:xfrm>
          <a:prstGeom prst="roundRect">
            <a:avLst/>
          </a:prstGeom>
          <a:solidFill>
            <a:srgbClr val="E1ECF9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34440"/>
            <a:ext cx="50292" cy="1828800"/>
          </a:xfrm>
          <a:prstGeom prst="rect">
            <a:avLst/>
          </a:prstGeom>
          <a:solidFill>
            <a:srgbClr val="2B6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399032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50" b="1">
                <a:solidFill>
                  <a:srgbClr val="2B66B1"/>
                </a:solidFill>
                <a:latin typeface="Aptos"/>
              </a:defRPr>
            </a:pPr>
            <a:r>
              <a:t>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764792"/>
            <a:ext cx="2221992" cy="12070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600" b="0">
                <a:solidFill>
                  <a:srgbClr val="19212C"/>
                </a:solidFill>
                <a:latin typeface="Aptos"/>
              </a:defRPr>
            </a:pPr>
            <a:r>
              <a:t>Resumable run state and cleaner stage managers for Energy through Network.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234440"/>
            <a:ext cx="2606040" cy="1828800"/>
          </a:xfrm>
          <a:prstGeom prst="roundRect">
            <a:avLst/>
          </a:prstGeom>
          <a:solidFill>
            <a:srgbClr val="E1F2E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11880" y="1234440"/>
            <a:ext cx="50292" cy="1828800"/>
          </a:xfrm>
          <a:prstGeom prst="rect">
            <a:avLst/>
          </a:prstGeom>
          <a:solidFill>
            <a:srgbClr val="1A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22192" y="1399032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50" b="1">
                <a:solidFill>
                  <a:srgbClr val="1A7E7C"/>
                </a:solidFill>
                <a:latin typeface="Aptos"/>
              </a:defRPr>
            </a:pPr>
            <a:r>
              <a:t>Proof harness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2192" y="1764792"/>
            <a:ext cx="2221992" cy="12070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600" b="0">
                <a:solidFill>
                  <a:srgbClr val="19212C"/>
                </a:solidFill>
                <a:latin typeface="Aptos"/>
              </a:defRPr>
            </a:pPr>
            <a:r>
              <a:t>Sequential prove-exact gates, crop/canonical pre-gates, and MATLAB oracle promotion.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234440"/>
            <a:ext cx="2606040" cy="1828800"/>
          </a:xfrm>
          <a:prstGeom prst="roundRect">
            <a:avLst/>
          </a:prstGeom>
          <a:solidFill>
            <a:srgbClr val="E4F3E9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234440"/>
            <a:ext cx="50292" cy="1828800"/>
          </a:xfrm>
          <a:prstGeom prst="rect">
            <a:avLst/>
          </a:prstGeom>
          <a:solidFill>
            <a:srgbClr val="36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2" y="1399032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50" b="1">
                <a:solidFill>
                  <a:srgbClr val="368459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1764792"/>
            <a:ext cx="2221992" cy="12070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600" b="0">
                <a:solidFill>
                  <a:srgbClr val="19212C"/>
                </a:solidFill>
                <a:latin typeface="Aptos"/>
              </a:defRPr>
            </a:pPr>
            <a:r>
              <a:t>Detached parity jobs plus monitor/status commands for long Windows runs.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60" y="1234440"/>
            <a:ext cx="2148840" cy="1828800"/>
          </a:xfrm>
          <a:prstGeom prst="roundRect">
            <a:avLst/>
          </a:prstGeom>
          <a:solidFill>
            <a:srgbClr val="F9F2E0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81160" y="1234440"/>
            <a:ext cx="50292" cy="1828800"/>
          </a:xfrm>
          <a:prstGeom prst="rect">
            <a:avLst/>
          </a:prstGeom>
          <a:solidFill>
            <a:srgbClr val="BC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91472" y="1399032"/>
            <a:ext cx="1764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50" b="1">
                <a:solidFill>
                  <a:srgbClr val="BC8727"/>
                </a:solidFill>
                <a:latin typeface="Aptos"/>
              </a:defRPr>
            </a:pPr>
            <a:r>
              <a:t>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1472" y="1764792"/>
            <a:ext cx="1764792" cy="12070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600" b="0">
                <a:solidFill>
                  <a:srgbClr val="19212C"/>
                </a:solidFill>
                <a:latin typeface="Aptos"/>
              </a:defRPr>
            </a:pPr>
            <a:r>
              <a:t>One task hub, one live findings log, and one Phase 1 spec.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977639"/>
            <a:ext cx="101041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500" b="1">
                <a:solidFill>
                  <a:srgbClr val="122B4C"/>
                </a:solidFill>
                <a:latin typeface="Aptos"/>
              </a:defRPr>
            </a:pPr>
            <a:r>
              <a:t>Net effect: the next failure should point to a specific stage, not a vague project state.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28232"/>
            <a:ext cx="10927080" cy="10972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74980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00" b="0">
                <a:solidFill>
                  <a:srgbClr val="5C6A7A"/>
                </a:solidFill>
                <a:latin typeface="Aptos"/>
              </a:defRPr>
            </a:pPr>
            <a:r>
              <a:t>SLAVV Python update | May 26-Jun 14,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>
                <a:solidFill>
                  <a:srgbClr val="1A7E7C"/>
                </a:solidFill>
                <a:latin typeface="Aptos"/>
              </a:defRPr>
            </a:pPr>
            <a:r>
              <a:t>BLOCKERS REMOVED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30352"/>
            <a:ext cx="10835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900" b="1">
                <a:solidFill>
                  <a:srgbClr val="122B4C"/>
                </a:solidFill>
                <a:latin typeface="Aptos Display"/>
              </a:defRPr>
            </a:pPr>
            <a:r>
              <a:t>Canonical Energy can now run for the right reason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261872"/>
            <a:ext cx="1874519" cy="1005840"/>
          </a:xfrm>
          <a:prstGeom prst="roundRect">
            <a:avLst/>
          </a:prstGeom>
          <a:solidFill>
            <a:srgbClr val="1A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26463"/>
            <a:ext cx="16916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&gt;400 MB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39" y="1920239"/>
            <a:ext cx="16001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Aptos"/>
              </a:defRPr>
            </a:pPr>
            <a:r>
              <a:t>saved per chunk by sparse meshes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261872"/>
            <a:ext cx="1874519" cy="1005840"/>
          </a:xfrm>
          <a:prstGeom prst="roundRect">
            <a:avLst/>
          </a:prstGeom>
          <a:solidFill>
            <a:srgbClr val="36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1426463"/>
            <a:ext cx="16916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~30x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920239"/>
            <a:ext cx="16001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Aptos"/>
              </a:defRPr>
            </a:pPr>
            <a:r>
              <a:t>lower peak energy stack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1261872"/>
            <a:ext cx="1874519" cy="1005840"/>
          </a:xfrm>
          <a:prstGeom prst="roundRect">
            <a:avLst/>
          </a:prstGeom>
          <a:solidFill>
            <a:srgbClr val="2B6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59" y="1426463"/>
            <a:ext cx="16916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float64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920239"/>
            <a:ext cx="16001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Aptos"/>
              </a:defRPr>
            </a:pPr>
            <a:r>
              <a:t>systemic precision alignment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1261872"/>
            <a:ext cx="1874519" cy="1005840"/>
          </a:xfrm>
          <a:prstGeom prst="roundRect">
            <a:avLst/>
          </a:prstGeom>
          <a:solidFill>
            <a:srgbClr val="BC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79" y="1426463"/>
            <a:ext cx="16916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Y/X/Z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920239"/>
            <a:ext cx="16001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Aptos"/>
              </a:defRPr>
            </a:pPr>
            <a:r>
              <a:t>MATLAB grid alignment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60" y="1261872"/>
            <a:ext cx="1874519" cy="1005840"/>
          </a:xfrm>
          <a:prstGeom prst="roundRect">
            <a:avLst/>
          </a:prstGeom>
          <a:solidFill>
            <a:srgbClr val="A6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1426463"/>
            <a:ext cx="16916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F-order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1920239"/>
            <a:ext cx="16001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0">
                <a:solidFill>
                  <a:srgbClr val="FFFFFF"/>
                </a:solidFill>
                <a:latin typeface="Aptos"/>
              </a:defRPr>
            </a:pPr>
            <a:r>
              <a:t>tie-break parity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108960"/>
            <a:ext cx="3200400" cy="1234440"/>
          </a:xfrm>
          <a:prstGeom prst="roundRect">
            <a:avLst/>
          </a:prstGeom>
          <a:solidFill>
            <a:srgbClr val="E4F3E9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3108960"/>
            <a:ext cx="50292" cy="1234440"/>
          </a:xfrm>
          <a:prstGeom prst="rect">
            <a:avLst/>
          </a:prstGeom>
          <a:solidFill>
            <a:srgbClr val="36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4712" y="3273552"/>
            <a:ext cx="2816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50" b="1">
                <a:solidFill>
                  <a:srgbClr val="368459"/>
                </a:solidFill>
                <a:latin typeface="Aptos"/>
              </a:defRPr>
            </a:pPr>
            <a:r>
              <a:t>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" y="3639312"/>
            <a:ext cx="2816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600" b="0">
                <a:solidFill>
                  <a:srgbClr val="19212C"/>
                </a:solidFill>
                <a:latin typeface="Aptos"/>
              </a:defRPr>
            </a:pPr>
            <a:r>
              <a:t>Sparse meshes, incremental best-scale updates, FFT cleanup, and Bessel chunking reduce OOM risk.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108960"/>
            <a:ext cx="3200400" cy="1234440"/>
          </a:xfrm>
          <a:prstGeom prst="roundRect">
            <a:avLst/>
          </a:prstGeom>
          <a:solidFill>
            <a:srgbClr val="E1ECF9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60" y="3108960"/>
            <a:ext cx="50292" cy="1234440"/>
          </a:xfrm>
          <a:prstGeom prst="rect">
            <a:avLst/>
          </a:prstGeom>
          <a:solidFill>
            <a:srgbClr val="2B66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90872" y="3273552"/>
            <a:ext cx="2816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50" b="1">
                <a:solidFill>
                  <a:srgbClr val="2B66B1"/>
                </a:solidFill>
                <a:latin typeface="Aptos"/>
              </a:defRPr>
            </a:pPr>
            <a:r>
              <a:t>Numerics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0872" y="3639312"/>
            <a:ext cx="281635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600" b="0">
                <a:solidFill>
                  <a:srgbClr val="19212C"/>
                </a:solidFill>
                <a:latin typeface="Aptos"/>
              </a:defRPr>
            </a:pPr>
            <a:r>
              <a:t>float64, MATLAB-style rounding, and mesh phase alignment prevent branch drift.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108960"/>
            <a:ext cx="2880360" cy="1234440"/>
          </a:xfrm>
          <a:prstGeom prst="roundRect">
            <a:avLst/>
          </a:prstGeom>
          <a:solidFill>
            <a:srgbClr val="E1F2EF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108960"/>
            <a:ext cx="50292" cy="1234440"/>
          </a:xfrm>
          <a:prstGeom prst="rect">
            <a:avLst/>
          </a:prstGeom>
          <a:solidFill>
            <a:srgbClr val="1A7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57032" y="3273552"/>
            <a:ext cx="24963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50" b="1">
                <a:solidFill>
                  <a:srgbClr val="1A7E7C"/>
                </a:solidFill>
                <a:latin typeface="Aptos"/>
              </a:defRPr>
            </a:pPr>
            <a:r>
              <a:t>Indexing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2" y="3639312"/>
            <a:ext cx="2496312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600" b="0">
                <a:solidFill>
                  <a:srgbClr val="19212C"/>
                </a:solidFill>
                <a:latin typeface="Aptos"/>
              </a:defRPr>
            </a:pPr>
            <a:r>
              <a:t>Internal Y/X/Z with Fortran order matches MATLAB tie-breaking.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074920"/>
            <a:ext cx="99212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100" b="1">
                <a:solidFill>
                  <a:srgbClr val="122B4C"/>
                </a:solidFill>
                <a:latin typeface="Aptos"/>
              </a:defRPr>
            </a:pPr>
            <a:r>
              <a:t>These fixes do not prove Phase 1; they make the proof runnable and fair.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428232"/>
            <a:ext cx="10927080" cy="10972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6510528"/>
            <a:ext cx="74980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00" b="0">
                <a:solidFill>
                  <a:srgbClr val="5C6A7A"/>
                </a:solidFill>
                <a:latin typeface="Aptos"/>
              </a:defRPr>
            </a:pPr>
            <a:r>
              <a:t>SLAVV Python update | May 26-Jun 14,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>
                <a:solidFill>
                  <a:srgbClr val="1A7E7C"/>
                </a:solidFill>
                <a:latin typeface="Aptos"/>
              </a:defRPr>
            </a:pPr>
            <a:r>
              <a:t>CURRENT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30352"/>
            <a:ext cx="10835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900" b="1">
                <a:solidFill>
                  <a:srgbClr val="122B4C"/>
                </a:solidFill>
                <a:latin typeface="Aptos Display"/>
              </a:defRPr>
            </a:pPr>
            <a:r>
              <a:t>One gate closed; the sequence remains open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34440"/>
            <a:ext cx="2743200" cy="411480"/>
          </a:xfrm>
          <a:prstGeom prst="rect">
            <a:avLst/>
          </a:prstGeom>
          <a:solidFill>
            <a:srgbClr val="12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44168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Aptos"/>
              </a:defRPr>
            </a:pPr>
            <a:r>
              <a:t>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1234440"/>
            <a:ext cx="1463040" cy="411480"/>
          </a:xfrm>
          <a:prstGeom prst="rect">
            <a:avLst/>
          </a:prstGeom>
          <a:solidFill>
            <a:srgbClr val="12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344168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234440"/>
            <a:ext cx="6309360" cy="411480"/>
          </a:xfrm>
          <a:prstGeom prst="rect">
            <a:avLst/>
          </a:prstGeom>
          <a:solidFill>
            <a:srgbClr val="12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1344168"/>
            <a:ext cx="6126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Aptos"/>
              </a:defRPr>
            </a:pPr>
            <a:r>
              <a:t>Meaning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09928"/>
            <a:ext cx="2743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4708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50" b="0">
                <a:solidFill>
                  <a:srgbClr val="19212C"/>
                </a:solidFill>
                <a:latin typeface="Aptos"/>
              </a:defRPr>
            </a:pPr>
            <a:r>
              <a:t>Crop Energy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1709928"/>
            <a:ext cx="1463040" cy="475488"/>
          </a:xfrm>
          <a:prstGeom prst="rect">
            <a:avLst/>
          </a:prstGeom>
          <a:solidFill>
            <a:srgbClr val="E4F3E9"/>
          </a:solidFill>
          <a:ln w="635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847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50" b="1">
                <a:solidFill>
                  <a:srgbClr val="368459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709928"/>
            <a:ext cx="6309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847088"/>
            <a:ext cx="6126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50" b="0">
                <a:solidFill>
                  <a:srgbClr val="19212C"/>
                </a:solidFill>
                <a:latin typeface="Aptos"/>
              </a:defRPr>
            </a:pPr>
            <a:r>
              <a:t>Bit-perfect after float64 and axis/shift fixes.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240280"/>
            <a:ext cx="2743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37744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50" b="0">
                <a:solidFill>
                  <a:srgbClr val="19212C"/>
                </a:solidFill>
                <a:latin typeface="Aptos"/>
              </a:defRPr>
            </a:pPr>
            <a:r>
              <a:t>Crop Vertices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2240280"/>
            <a:ext cx="1463040" cy="475488"/>
          </a:xfrm>
          <a:prstGeom prst="rect">
            <a:avLst/>
          </a:prstGeom>
          <a:solidFill>
            <a:srgbClr val="F9F2E0"/>
          </a:solidFill>
          <a:ln w="635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2377440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50" b="1">
                <a:solidFill>
                  <a:srgbClr val="BC8727"/>
                </a:solidFill>
                <a:latin typeface="Aptos"/>
              </a:defRPr>
            </a:pPr>
            <a:r>
              <a:t>PENDING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2240280"/>
            <a:ext cx="6309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2377440"/>
            <a:ext cx="6126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50" b="0">
                <a:solidFill>
                  <a:srgbClr val="19212C"/>
                </a:solidFill>
                <a:latin typeface="Aptos"/>
              </a:defRPr>
            </a:pPr>
            <a:r>
              <a:t>Prove after refreshed exact-route checkpoints.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2770632"/>
            <a:ext cx="2743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290779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50" b="0">
                <a:solidFill>
                  <a:srgbClr val="19212C"/>
                </a:solidFill>
                <a:latin typeface="Aptos"/>
              </a:defRPr>
            </a:pPr>
            <a:r>
              <a:t>Crop Edges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2770632"/>
            <a:ext cx="1463040" cy="475488"/>
          </a:xfrm>
          <a:prstGeom prst="rect">
            <a:avLst/>
          </a:prstGeom>
          <a:solidFill>
            <a:srgbClr val="F9F2E0"/>
          </a:solidFill>
          <a:ln w="635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29077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50" b="1">
                <a:solidFill>
                  <a:srgbClr val="BC8727"/>
                </a:solidFill>
                <a:latin typeface="Aptos"/>
              </a:defRPr>
            </a:pPr>
            <a:r>
              <a:t>PENDING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2770632"/>
            <a:ext cx="6309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2907792"/>
            <a:ext cx="6126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50" b="0">
                <a:solidFill>
                  <a:srgbClr val="19212C"/>
                </a:solidFill>
                <a:latin typeface="Aptos"/>
              </a:defRPr>
            </a:pPr>
            <a:r>
              <a:t>Depends on matching vertices.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3300984"/>
            <a:ext cx="2743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438144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50" b="0">
                <a:solidFill>
                  <a:srgbClr val="19212C"/>
                </a:solidFill>
                <a:latin typeface="Aptos"/>
              </a:defRPr>
            </a:pPr>
            <a:r>
              <a:t>Canonical Energy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66160" y="3300984"/>
            <a:ext cx="1463040" cy="475488"/>
          </a:xfrm>
          <a:prstGeom prst="rect">
            <a:avLst/>
          </a:prstGeom>
          <a:solidFill>
            <a:srgbClr val="F9F2E0"/>
          </a:solidFill>
          <a:ln w="635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3438144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50" b="1">
                <a:solidFill>
                  <a:srgbClr val="BC8727"/>
                </a:solidFill>
                <a:latin typeface="Aptos"/>
              </a:defRPr>
            </a:pPr>
            <a:r>
              <a:t>PENDING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0" y="3300984"/>
            <a:ext cx="6309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0" y="3438144"/>
            <a:ext cx="6126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50" b="0">
                <a:solidFill>
                  <a:srgbClr val="19212C"/>
                </a:solidFill>
                <a:latin typeface="Aptos"/>
              </a:defRPr>
            </a:pPr>
            <a:r>
              <a:t>Resume phase1_cert_network with memory-safe path.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3831335"/>
            <a:ext cx="2743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3968496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50" b="0">
                <a:solidFill>
                  <a:srgbClr val="19212C"/>
                </a:solidFill>
                <a:latin typeface="Aptos"/>
              </a:defRPr>
            </a:pPr>
            <a:r>
              <a:t>Canonical Sequence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66160" y="3831335"/>
            <a:ext cx="1463040" cy="475488"/>
          </a:xfrm>
          <a:prstGeom prst="rect">
            <a:avLst/>
          </a:prstGeom>
          <a:solidFill>
            <a:srgbClr val="F9F2E0"/>
          </a:solidFill>
          <a:ln w="635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0" y="39684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50" b="1">
                <a:solidFill>
                  <a:srgbClr val="BC8727"/>
                </a:solidFill>
                <a:latin typeface="Aptos"/>
              </a:defRPr>
            </a:pPr>
            <a:r>
              <a:t>PENDING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3831335"/>
            <a:ext cx="6309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0" y="3968496"/>
            <a:ext cx="6126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150" b="0">
                <a:solidFill>
                  <a:srgbClr val="19212C"/>
                </a:solidFill>
                <a:latin typeface="Aptos"/>
              </a:defRPr>
            </a:pPr>
            <a:r>
              <a:t>Final full-volume Energy -&gt; Network proof.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0120" y="4892040"/>
            <a:ext cx="4572000" cy="822960"/>
          </a:xfrm>
          <a:prstGeom prst="roundRect">
            <a:avLst/>
          </a:prstGeom>
          <a:solidFill>
            <a:srgbClr val="F9F2E0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0120" y="4892040"/>
            <a:ext cx="50292" cy="822960"/>
          </a:xfrm>
          <a:prstGeom prst="rect">
            <a:avLst/>
          </a:prstGeom>
          <a:solidFill>
            <a:srgbClr val="BC8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70432" y="5056631"/>
            <a:ext cx="4187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50" b="1">
                <a:solidFill>
                  <a:srgbClr val="BC8727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70432" y="5422392"/>
            <a:ext cx="4187952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600" b="0">
                <a:solidFill>
                  <a:srgbClr val="19212C"/>
                </a:solidFill>
                <a:latin typeface="Aptos"/>
              </a:defRPr>
            </a:pPr>
            <a:r>
              <a:t>v29 edges reached 88.7% pair match; that is a diagnostic baseline only.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0" y="4892040"/>
            <a:ext cx="4526280" cy="822960"/>
          </a:xfrm>
          <a:prstGeom prst="roundRect">
            <a:avLst/>
          </a:prstGeom>
          <a:solidFill>
            <a:srgbClr val="E4F3E9"/>
          </a:solidFill>
          <a:ln w="1016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09360" y="4892040"/>
            <a:ext cx="50292" cy="822960"/>
          </a:xfrm>
          <a:prstGeom prst="rect">
            <a:avLst/>
          </a:prstGeom>
          <a:solidFill>
            <a:srgbClr val="368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19672" y="5056631"/>
            <a:ext cx="4142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350" b="1">
                <a:solidFill>
                  <a:srgbClr val="368459"/>
                </a:solidFill>
                <a:latin typeface="Aptos"/>
              </a:defRPr>
            </a:pPr>
            <a:r>
              <a:t>Exit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9672" y="5422392"/>
            <a:ext cx="4142232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600" b="0">
                <a:solidFill>
                  <a:srgbClr val="19212C"/>
                </a:solidFill>
                <a:latin typeface="Aptos"/>
              </a:defRPr>
            </a:pPr>
            <a:r>
              <a:t>All four canonical stages must pass strict zero on one run root.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6428232"/>
            <a:ext cx="10927080" cy="10972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6510528"/>
            <a:ext cx="74980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00" b="0">
                <a:solidFill>
                  <a:srgbClr val="5C6A7A"/>
                </a:solidFill>
                <a:latin typeface="Aptos"/>
              </a:defRPr>
            </a:pPr>
            <a:r>
              <a:t>SLAVV Python update | May 26-Jun 14,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900" b="1">
                <a:solidFill>
                  <a:srgbClr val="1A7E7C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30352"/>
            <a:ext cx="10835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2900" b="1">
                <a:solidFill>
                  <a:srgbClr val="122B4C"/>
                </a:solidFill>
                <a:latin typeface="Aptos Display"/>
              </a:defRPr>
            </a:pPr>
            <a:r>
              <a:t>Short path from here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280160"/>
            <a:ext cx="457200" cy="438912"/>
          </a:xfrm>
          <a:prstGeom prst="roundRect">
            <a:avLst/>
          </a:prstGeom>
          <a:solidFill>
            <a:srgbClr val="12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344168"/>
            <a:ext cx="3108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307592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600" b="1">
                <a:solidFill>
                  <a:srgbClr val="122B4C"/>
                </a:solidFill>
                <a:latin typeface="Aptos"/>
              </a:defRPr>
            </a:pPr>
            <a:r>
              <a:t>Refresh crop checkpoints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1307592"/>
            <a:ext cx="6172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50" b="0">
                <a:solidFill>
                  <a:srgbClr val="19212C"/>
                </a:solidFill>
                <a:latin typeface="Aptos"/>
              </a:defRPr>
            </a:pPr>
            <a:r>
              <a:t>Run exact route through vertices, edges, and network.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212848"/>
            <a:ext cx="457200" cy="438912"/>
          </a:xfrm>
          <a:prstGeom prst="roundRect">
            <a:avLst/>
          </a:prstGeom>
          <a:solidFill>
            <a:srgbClr val="12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276856"/>
            <a:ext cx="3108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240279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600" b="1">
                <a:solidFill>
                  <a:srgbClr val="122B4C"/>
                </a:solidFill>
                <a:latin typeface="Aptos"/>
              </a:defRPr>
            </a:pPr>
            <a:r>
              <a:t>Prove crop sequence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40279"/>
            <a:ext cx="6172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50" b="0">
                <a:solidFill>
                  <a:srgbClr val="19212C"/>
                </a:solidFill>
                <a:latin typeface="Aptos"/>
              </a:defRPr>
            </a:pPr>
            <a:r>
              <a:t>Stop at the first failing stage.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45536"/>
            <a:ext cx="457200" cy="438912"/>
          </a:xfrm>
          <a:prstGeom prst="roundRect">
            <a:avLst/>
          </a:prstGeom>
          <a:solidFill>
            <a:srgbClr val="12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209544"/>
            <a:ext cx="3108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172968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600" b="1">
                <a:solidFill>
                  <a:srgbClr val="122B4C"/>
                </a:solidFill>
                <a:latin typeface="Aptos"/>
              </a:defRPr>
            </a:pPr>
            <a:r>
              <a:t>Resume canonical Energy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172968"/>
            <a:ext cx="6172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50" b="0">
                <a:solidFill>
                  <a:srgbClr val="19212C"/>
                </a:solidFill>
                <a:latin typeface="Aptos"/>
              </a:defRPr>
            </a:pPr>
            <a:r>
              <a:t>Use the memory-safe phase1_cert_network path.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078224"/>
            <a:ext cx="457200" cy="438912"/>
          </a:xfrm>
          <a:prstGeom prst="roundRect">
            <a:avLst/>
          </a:prstGeom>
          <a:solidFill>
            <a:srgbClr val="12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142232"/>
            <a:ext cx="3108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105656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600" b="1">
                <a:solidFill>
                  <a:srgbClr val="122B4C"/>
                </a:solidFill>
                <a:latin typeface="Aptos"/>
              </a:defRPr>
            </a:pPr>
            <a:r>
              <a:t>Promote only strict-zero proof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105656"/>
            <a:ext cx="6172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1550" b="0">
                <a:solidFill>
                  <a:srgbClr val="19212C"/>
                </a:solidFill>
                <a:latin typeface="Aptos"/>
              </a:defRPr>
            </a:pPr>
            <a:r>
              <a:t>Record Phase 1 after all canonical gates pass.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440680"/>
            <a:ext cx="9829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300" b="1">
                <a:solidFill>
                  <a:srgbClr val="122B4C"/>
                </a:solidFill>
                <a:latin typeface="Aptos Display"/>
              </a:defRPr>
            </a:pPr>
            <a:r>
              <a:t>Bottom line: the work made certification concrete and runnable. The certification itself is still pending.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28232"/>
            <a:ext cx="10927080" cy="10972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74980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defRPr sz="800" b="0">
                <a:solidFill>
                  <a:srgbClr val="5C6A7A"/>
                </a:solidFill>
                <a:latin typeface="Aptos"/>
              </a:defRPr>
            </a:pPr>
            <a:r>
              <a:t>SLAVV Python update | May 26-Jun 14,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SLAVV Python: Exact-Route Certification Progress</dc:title>
  <dc:subject>Concise subgroup weekly lab update</dc:subject>
  <dc:creator>Aaron Lorenzo Woods / Codex</dc:creator>
  <cp:keywords>SLAVV, MATLAB parity, exact-route, certification, vascular vectorization</cp:keywords>
  <dc:description>Concise narrative-flow revision generated from repository commits and parity documentation for May 26-Jun 14, 2026.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